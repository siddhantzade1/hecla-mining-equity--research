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314" r:id="rId5"/>
    <p:sldId id="315" r:id="rId6"/>
    <p:sldId id="317" r:id="rId7"/>
    <p:sldId id="318" r:id="rId8"/>
    <p:sldId id="319" r:id="rId9"/>
    <p:sldId id="320" r:id="rId10"/>
    <p:sldId id="322" r:id="rId11"/>
    <p:sldId id="321" r:id="rId12"/>
    <p:sldId id="325" r:id="rId13"/>
    <p:sldId id="324" r:id="rId14"/>
    <p:sldId id="30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nt Zade" userId="a6e8ed676de72eda" providerId="LiveId" clId="{766137EB-8372-4FEF-A655-E79A00CC785A}"/>
    <pc:docChg chg="undo custSel addSld delSld modSld sldOrd">
      <pc:chgData name="Siddhant Zade" userId="a6e8ed676de72eda" providerId="LiveId" clId="{766137EB-8372-4FEF-A655-E79A00CC785A}" dt="2025-12-08T00:43:07.240" v="738" actId="20577"/>
      <pc:docMkLst>
        <pc:docMk/>
      </pc:docMkLst>
      <pc:sldChg chg="modSp mod">
        <pc:chgData name="Siddhant Zade" userId="a6e8ed676de72eda" providerId="LiveId" clId="{766137EB-8372-4FEF-A655-E79A00CC785A}" dt="2025-12-08T00:43:07.240" v="738" actId="20577"/>
        <pc:sldMkLst>
          <pc:docMk/>
          <pc:sldMk cId="769932640" sldId="309"/>
        </pc:sldMkLst>
        <pc:spChg chg="mod">
          <ac:chgData name="Siddhant Zade" userId="a6e8ed676de72eda" providerId="LiveId" clId="{766137EB-8372-4FEF-A655-E79A00CC785A}" dt="2025-12-08T00:43:07.240" v="738" actId="20577"/>
          <ac:spMkLst>
            <pc:docMk/>
            <pc:sldMk cId="769932640" sldId="309"/>
            <ac:spMk id="10" creationId="{1F398FDD-E639-CF6A-B875-443655F2B31B}"/>
          </ac:spMkLst>
        </pc:spChg>
      </pc:sldChg>
      <pc:sldChg chg="addSp modSp mod ord">
        <pc:chgData name="Siddhant Zade" userId="a6e8ed676de72eda" providerId="LiveId" clId="{766137EB-8372-4FEF-A655-E79A00CC785A}" dt="2025-12-08T00:10:37.377" v="434"/>
        <pc:sldMkLst>
          <pc:docMk/>
          <pc:sldMk cId="569699605" sldId="321"/>
        </pc:sldMkLst>
        <pc:spChg chg="mod">
          <ac:chgData name="Siddhant Zade" userId="a6e8ed676de72eda" providerId="LiveId" clId="{766137EB-8372-4FEF-A655-E79A00CC785A}" dt="2025-12-07T23:59:46.817" v="340" actId="20577"/>
          <ac:spMkLst>
            <pc:docMk/>
            <pc:sldMk cId="569699605" sldId="321"/>
            <ac:spMk id="4" creationId="{701C2F4A-ABC8-39B2-B7BB-36C02B7A4540}"/>
          </ac:spMkLst>
        </pc:spChg>
        <pc:picChg chg="add mod">
          <ac:chgData name="Siddhant Zade" userId="a6e8ed676de72eda" providerId="LiveId" clId="{766137EB-8372-4FEF-A655-E79A00CC785A}" dt="2025-12-08T00:09:58.204" v="432" actId="14100"/>
          <ac:picMkLst>
            <pc:docMk/>
            <pc:sldMk cId="569699605" sldId="321"/>
            <ac:picMk id="17" creationId="{41023845-BDB4-F3BE-DE05-FEF486DCD728}"/>
          </ac:picMkLst>
        </pc:picChg>
      </pc:sldChg>
      <pc:sldChg chg="modSp mod">
        <pc:chgData name="Siddhant Zade" userId="a6e8ed676de72eda" providerId="LiveId" clId="{766137EB-8372-4FEF-A655-E79A00CC785A}" dt="2025-12-08T00:09:46.736" v="431" actId="313"/>
        <pc:sldMkLst>
          <pc:docMk/>
          <pc:sldMk cId="1517447069" sldId="322"/>
        </pc:sldMkLst>
        <pc:spChg chg="mod">
          <ac:chgData name="Siddhant Zade" userId="a6e8ed676de72eda" providerId="LiveId" clId="{766137EB-8372-4FEF-A655-E79A00CC785A}" dt="2025-12-08T00:09:46.736" v="431" actId="313"/>
          <ac:spMkLst>
            <pc:docMk/>
            <pc:sldMk cId="1517447069" sldId="322"/>
            <ac:spMk id="2" creationId="{56FEAA13-E02F-EB47-E510-E3F48A95F847}"/>
          </ac:spMkLst>
        </pc:spChg>
        <pc:spChg chg="mod">
          <ac:chgData name="Siddhant Zade" userId="a6e8ed676de72eda" providerId="LiveId" clId="{766137EB-8372-4FEF-A655-E79A00CC785A}" dt="2025-12-08T00:08:48.085" v="426" actId="27636"/>
          <ac:spMkLst>
            <pc:docMk/>
            <pc:sldMk cId="1517447069" sldId="322"/>
            <ac:spMk id="3" creationId="{05E26637-007F-EC9E-F644-AAFBA0900F3C}"/>
          </ac:spMkLst>
        </pc:spChg>
        <pc:spChg chg="mod">
          <ac:chgData name="Siddhant Zade" userId="a6e8ed676de72eda" providerId="LiveId" clId="{766137EB-8372-4FEF-A655-E79A00CC785A}" dt="2025-12-08T00:09:24.004" v="428" actId="27636"/>
          <ac:spMkLst>
            <pc:docMk/>
            <pc:sldMk cId="1517447069" sldId="322"/>
            <ac:spMk id="6" creationId="{DA3FA180-F896-B668-8BA1-591474B4023C}"/>
          </ac:spMkLst>
        </pc:spChg>
      </pc:sldChg>
      <pc:sldChg chg="modSp mod">
        <pc:chgData name="Siddhant Zade" userId="a6e8ed676de72eda" providerId="LiveId" clId="{766137EB-8372-4FEF-A655-E79A00CC785A}" dt="2025-12-08T00:40:36.526" v="728" actId="20577"/>
        <pc:sldMkLst>
          <pc:docMk/>
          <pc:sldMk cId="2398406067" sldId="324"/>
        </pc:sldMkLst>
        <pc:spChg chg="mod">
          <ac:chgData name="Siddhant Zade" userId="a6e8ed676de72eda" providerId="LiveId" clId="{766137EB-8372-4FEF-A655-E79A00CC785A}" dt="2025-12-08T00:40:36.526" v="728" actId="20577"/>
          <ac:spMkLst>
            <pc:docMk/>
            <pc:sldMk cId="2398406067" sldId="324"/>
            <ac:spMk id="4" creationId="{3735AC68-D86C-E73B-5402-F22C9F54DC0C}"/>
          </ac:spMkLst>
        </pc:spChg>
      </pc:sldChg>
      <pc:sldChg chg="addSp delSp modSp new del mod modClrScheme chgLayout">
        <pc:chgData name="Siddhant Zade" userId="a6e8ed676de72eda" providerId="LiveId" clId="{766137EB-8372-4FEF-A655-E79A00CC785A}" dt="2025-12-08T00:06:11.906" v="385" actId="2696"/>
        <pc:sldMkLst>
          <pc:docMk/>
          <pc:sldMk cId="3009343848" sldId="325"/>
        </pc:sldMkLst>
        <pc:spChg chg="del mod ord">
          <ac:chgData name="Siddhant Zade" userId="a6e8ed676de72eda" providerId="LiveId" clId="{766137EB-8372-4FEF-A655-E79A00CC785A}" dt="2025-12-08T00:01:27.607" v="342" actId="700"/>
          <ac:spMkLst>
            <pc:docMk/>
            <pc:sldMk cId="3009343848" sldId="325"/>
            <ac:spMk id="2" creationId="{E37AEC2F-AB44-F239-FBF0-125A0EF72EDC}"/>
          </ac:spMkLst>
        </pc:spChg>
        <pc:spChg chg="del">
          <ac:chgData name="Siddhant Zade" userId="a6e8ed676de72eda" providerId="LiveId" clId="{766137EB-8372-4FEF-A655-E79A00CC785A}" dt="2025-12-08T00:01:27.607" v="342" actId="700"/>
          <ac:spMkLst>
            <pc:docMk/>
            <pc:sldMk cId="3009343848" sldId="325"/>
            <ac:spMk id="3" creationId="{9CD3F5C9-9DB0-A37A-E966-BC992D5D81E1}"/>
          </ac:spMkLst>
        </pc:spChg>
        <pc:spChg chg="del">
          <ac:chgData name="Siddhant Zade" userId="a6e8ed676de72eda" providerId="LiveId" clId="{766137EB-8372-4FEF-A655-E79A00CC785A}" dt="2025-12-08T00:01:27.607" v="342" actId="700"/>
          <ac:spMkLst>
            <pc:docMk/>
            <pc:sldMk cId="3009343848" sldId="325"/>
            <ac:spMk id="4" creationId="{DEC87993-BA99-8EE0-BDD2-A8D0DB9E90F4}"/>
          </ac:spMkLst>
        </pc:spChg>
        <pc:spChg chg="mod ord">
          <ac:chgData name="Siddhant Zade" userId="a6e8ed676de72eda" providerId="LiveId" clId="{766137EB-8372-4FEF-A655-E79A00CC785A}" dt="2025-12-08T00:02:30.240" v="347" actId="700"/>
          <ac:spMkLst>
            <pc:docMk/>
            <pc:sldMk cId="3009343848" sldId="325"/>
            <ac:spMk id="5" creationId="{C1419553-2CFB-2E94-D816-974D3B1E6DC6}"/>
          </ac:spMkLst>
        </pc:spChg>
        <pc:spChg chg="add del mod ord">
          <ac:chgData name="Siddhant Zade" userId="a6e8ed676de72eda" providerId="LiveId" clId="{766137EB-8372-4FEF-A655-E79A00CC785A}" dt="2025-12-08T00:02:30.240" v="347" actId="700"/>
          <ac:spMkLst>
            <pc:docMk/>
            <pc:sldMk cId="3009343848" sldId="325"/>
            <ac:spMk id="6" creationId="{B641AFC1-4D91-8599-603E-970A1F26E21C}"/>
          </ac:spMkLst>
        </pc:spChg>
        <pc:spChg chg="add mod ord">
          <ac:chgData name="Siddhant Zade" userId="a6e8ed676de72eda" providerId="LiveId" clId="{766137EB-8372-4FEF-A655-E79A00CC785A}" dt="2025-12-08T00:02:30.240" v="347" actId="700"/>
          <ac:spMkLst>
            <pc:docMk/>
            <pc:sldMk cId="3009343848" sldId="325"/>
            <ac:spMk id="9" creationId="{77DB7A6E-7531-298E-B79D-CC414CB1A99A}"/>
          </ac:spMkLst>
        </pc:spChg>
        <pc:spChg chg="add del mod ord">
          <ac:chgData name="Siddhant Zade" userId="a6e8ed676de72eda" providerId="LiveId" clId="{766137EB-8372-4FEF-A655-E79A00CC785A}" dt="2025-12-08T00:02:32.268" v="348"/>
          <ac:spMkLst>
            <pc:docMk/>
            <pc:sldMk cId="3009343848" sldId="325"/>
            <ac:spMk id="10" creationId="{30176397-293A-3FBB-B2EE-2029BAFB7338}"/>
          </ac:spMkLst>
        </pc:spChg>
        <pc:spChg chg="add mod">
          <ac:chgData name="Siddhant Zade" userId="a6e8ed676de72eda" providerId="LiveId" clId="{766137EB-8372-4FEF-A655-E79A00CC785A}" dt="2025-12-08T00:04:35.692" v="376" actId="1076"/>
          <ac:spMkLst>
            <pc:docMk/>
            <pc:sldMk cId="3009343848" sldId="325"/>
            <ac:spMk id="15" creationId="{4ED4429A-CA70-9FD1-E3C8-F25FAD680BB0}"/>
          </ac:spMkLst>
        </pc:spChg>
        <pc:picChg chg="add mod">
          <ac:chgData name="Siddhant Zade" userId="a6e8ed676de72eda" providerId="LiveId" clId="{766137EB-8372-4FEF-A655-E79A00CC785A}" dt="2025-12-08T00:02:23.754" v="346" actId="14100"/>
          <ac:picMkLst>
            <pc:docMk/>
            <pc:sldMk cId="3009343848" sldId="325"/>
            <ac:picMk id="8" creationId="{C0698D3E-A0EC-8254-DA90-374B42D24D8E}"/>
          </ac:picMkLst>
        </pc:picChg>
        <pc:picChg chg="add mod">
          <ac:chgData name="Siddhant Zade" userId="a6e8ed676de72eda" providerId="LiveId" clId="{766137EB-8372-4FEF-A655-E79A00CC785A}" dt="2025-12-08T00:04:25.215" v="374" actId="1076"/>
          <ac:picMkLst>
            <pc:docMk/>
            <pc:sldMk cId="3009343848" sldId="325"/>
            <ac:picMk id="12" creationId="{63AA3C28-42FC-6E59-2F4E-7BEBBF90777F}"/>
          </ac:picMkLst>
        </pc:picChg>
        <pc:picChg chg="add mod">
          <ac:chgData name="Siddhant Zade" userId="a6e8ed676de72eda" providerId="LiveId" clId="{766137EB-8372-4FEF-A655-E79A00CC785A}" dt="2025-12-08T00:04:27.309" v="375" actId="1076"/>
          <ac:picMkLst>
            <pc:docMk/>
            <pc:sldMk cId="3009343848" sldId="325"/>
            <ac:picMk id="14" creationId="{22CE6891-2955-DE8E-1F2B-E8402BA68534}"/>
          </ac:picMkLst>
        </pc:picChg>
        <pc:picChg chg="add del mod">
          <ac:chgData name="Siddhant Zade" userId="a6e8ed676de72eda" providerId="LiveId" clId="{766137EB-8372-4FEF-A655-E79A00CC785A}" dt="2025-12-08T00:05:49.732" v="382" actId="21"/>
          <ac:picMkLst>
            <pc:docMk/>
            <pc:sldMk cId="3009343848" sldId="325"/>
            <ac:picMk id="17" creationId="{41023845-BDB4-F3BE-DE05-FEF486DCD728}"/>
          </ac:picMkLst>
        </pc:picChg>
      </pc:sldChg>
      <pc:sldChg chg="addSp delSp modSp add mod">
        <pc:chgData name="Siddhant Zade" userId="a6e8ed676de72eda" providerId="LiveId" clId="{766137EB-8372-4FEF-A655-E79A00CC785A}" dt="2025-12-08T00:25:07.263" v="569" actId="27636"/>
        <pc:sldMkLst>
          <pc:docMk/>
          <pc:sldMk cId="3370746072" sldId="325"/>
        </pc:sldMkLst>
        <pc:spChg chg="del">
          <ac:chgData name="Siddhant Zade" userId="a6e8ed676de72eda" providerId="LiveId" clId="{766137EB-8372-4FEF-A655-E79A00CC785A}" dt="2025-12-08T00:21:02.707" v="435"/>
          <ac:spMkLst>
            <pc:docMk/>
            <pc:sldMk cId="3370746072" sldId="325"/>
            <ac:spMk id="3" creationId="{3BB66C1D-EFA7-7FD2-1727-6D89D56DE943}"/>
          </ac:spMkLst>
        </pc:spChg>
        <pc:spChg chg="mod">
          <ac:chgData name="Siddhant Zade" userId="a6e8ed676de72eda" providerId="LiveId" clId="{766137EB-8372-4FEF-A655-E79A00CC785A}" dt="2025-12-08T00:25:07.263" v="569" actId="27636"/>
          <ac:spMkLst>
            <pc:docMk/>
            <pc:sldMk cId="3370746072" sldId="325"/>
            <ac:spMk id="6" creationId="{D217BFDD-E764-9867-781E-96E17B47F23C}"/>
          </ac:spMkLst>
        </pc:spChg>
        <pc:spChg chg="add mod">
          <ac:chgData name="Siddhant Zade" userId="a6e8ed676de72eda" providerId="LiveId" clId="{766137EB-8372-4FEF-A655-E79A00CC785A}" dt="2025-12-08T00:22:18.964" v="440" actId="1076"/>
          <ac:spMkLst>
            <pc:docMk/>
            <pc:sldMk cId="3370746072" sldId="325"/>
            <ac:spMk id="8" creationId="{15F6F813-2D83-597F-06B9-94877A9DF643}"/>
          </ac:spMkLst>
        </pc:spChg>
        <pc:picChg chg="add mod">
          <ac:chgData name="Siddhant Zade" userId="a6e8ed676de72eda" providerId="LiveId" clId="{766137EB-8372-4FEF-A655-E79A00CC785A}" dt="2025-12-08T00:21:02.707" v="435"/>
          <ac:picMkLst>
            <pc:docMk/>
            <pc:sldMk cId="3370746072" sldId="325"/>
            <ac:picMk id="7" creationId="{071DAEB6-E939-E822-9FD9-D3823806EE3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4201B-CF9E-0816-8972-6E85982C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CA045-EE4D-C789-83EB-C51861E9B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92C99-A1BD-52B7-7618-3018BE698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39F97-7415-65D7-3364-3EE840B80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30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xhere.com/en/photo/69816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43200"/>
            <a:ext cx="5674360" cy="3704734"/>
          </a:xfrm>
        </p:spPr>
        <p:txBody>
          <a:bodyPr>
            <a:normAutofit fontScale="90000"/>
          </a:bodyPr>
          <a:lstStyle/>
          <a:p>
            <a:r>
              <a:rPr lang="en-US" dirty="0"/>
              <a:t>Hecla Mining Company</a:t>
            </a:r>
            <a:br>
              <a:rPr lang="en-US" dirty="0"/>
            </a:br>
            <a:r>
              <a:rPr lang="en-US" dirty="0"/>
              <a:t>NYSE: HL</a:t>
            </a:r>
            <a:br>
              <a:rPr lang="en-US" dirty="0"/>
            </a:br>
            <a:br>
              <a:rPr lang="en-US" dirty="0"/>
            </a:br>
            <a:r>
              <a:rPr lang="en-US" sz="2700" i="1" dirty="0"/>
              <a:t>Target Price</a:t>
            </a:r>
            <a:r>
              <a:rPr lang="en-US" sz="3100" dirty="0"/>
              <a:t>: $ 20</a:t>
            </a:r>
            <a:br>
              <a:rPr lang="en-US" dirty="0"/>
            </a:br>
            <a:r>
              <a:rPr lang="en-US" sz="2700" i="1" dirty="0"/>
              <a:t>Recommendation: BUY/ hold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213FA0-9089-FD9D-045E-0E4A02DB6462}"/>
              </a:ext>
            </a:extLst>
          </p:cNvPr>
          <p:cNvSpPr/>
          <p:nvPr/>
        </p:nvSpPr>
        <p:spPr>
          <a:xfrm>
            <a:off x="8724505" y="864269"/>
            <a:ext cx="2286001" cy="14954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BDAA15-928B-C822-E4FA-478B5FC77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505" y="864270"/>
            <a:ext cx="22860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071621" cy="749696"/>
          </a:xfrm>
        </p:spPr>
        <p:txBody>
          <a:bodyPr/>
          <a:lstStyle/>
          <a:p>
            <a:r>
              <a:rPr lang="en-US" dirty="0"/>
              <a:t>Company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253766"/>
            <a:ext cx="6108569" cy="2441541"/>
          </a:xfrm>
        </p:spPr>
        <p:txBody>
          <a:bodyPr/>
          <a:lstStyle/>
          <a:p>
            <a:r>
              <a:rPr lang="en-US" dirty="0"/>
              <a:t>Founded in 1891, one of the oldest U.S. silver producers</a:t>
            </a:r>
          </a:p>
          <a:p>
            <a:pPr lvl="1"/>
            <a:r>
              <a:rPr lang="en-US" dirty="0"/>
              <a:t>Operational mines across Alaska, Idaho, Quebec</a:t>
            </a:r>
          </a:p>
          <a:p>
            <a:pPr lvl="1"/>
            <a:r>
              <a:rPr lang="en-US" dirty="0"/>
              <a:t>Revenue mix: Silver, Gold, Zinc, Lead</a:t>
            </a:r>
          </a:p>
          <a:p>
            <a:pPr lvl="1"/>
            <a:r>
              <a:rPr lang="en-US" dirty="0"/>
              <a:t>Focus on long-life assets with strong ESG compliance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A296A4-3F9B-F337-938C-3C9ED0099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932" y="3641395"/>
            <a:ext cx="4642967" cy="23608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A2221E-73A0-860F-C521-220368C568FB}"/>
              </a:ext>
            </a:extLst>
          </p:cNvPr>
          <p:cNvSpPr txBox="1"/>
          <p:nvPr/>
        </p:nvSpPr>
        <p:spPr>
          <a:xfrm>
            <a:off x="1630837" y="5948313"/>
            <a:ext cx="338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Price Chart &lt;DES&gt;</a:t>
            </a:r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1" y="2234154"/>
            <a:ext cx="3847078" cy="1008668"/>
          </a:xfrm>
        </p:spPr>
        <p:txBody>
          <a:bodyPr>
            <a:normAutofit fontScale="90000"/>
          </a:bodyPr>
          <a:lstStyle/>
          <a:p>
            <a:r>
              <a:rPr lang="en-US" dirty="0"/>
              <a:t>The Aha Moment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2601799"/>
            <a:ext cx="4997466" cy="396092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centers drive rising demand for silver and copper.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Significant holdings in SIL, SILJ, SLYP, GDXJ, GDEX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The Genesis Mission on the AI future.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B101642-5DBC-0D76-8958-E285481382A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407" r="204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Financials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cap="none" dirty="0"/>
              <a:t>The company seems to be emerging from a downturn into a period of strong Revenue Growth.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It seems to have significantly improved profitability.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These Metrics shows investor confidence as seen with the current surge in stock price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dirty="0">
              <a:cs typeface="Calibri"/>
            </a:endParaRP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cap="none" dirty="0">
              <a:cs typeface="Calibri"/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8A26480-7FEF-C6D9-F8BF-A180598A9B2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5071916" y="3717445"/>
            <a:ext cx="6205684" cy="319187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406E4B-CE8A-A91B-9DC9-085F40302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975" y="418403"/>
            <a:ext cx="6211824" cy="29297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FCA360-5665-5431-D306-6FA6E6BCA08F}"/>
              </a:ext>
            </a:extLst>
          </p:cNvPr>
          <p:cNvSpPr txBox="1"/>
          <p:nvPr/>
        </p:nvSpPr>
        <p:spPr>
          <a:xfrm>
            <a:off x="5071916" y="3348113"/>
            <a:ext cx="725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B40DCA-2BBC-1925-ED47-AB8BE9F769BD}"/>
              </a:ext>
            </a:extLst>
          </p:cNvPr>
          <p:cNvSpPr txBox="1"/>
          <p:nvPr/>
        </p:nvSpPr>
        <p:spPr>
          <a:xfrm>
            <a:off x="5071916" y="49071"/>
            <a:ext cx="816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DES</a:t>
            </a:r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8BFE2D-CFD1-33C4-BDFE-A50E2CC8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Peer comparison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F2C39A4-0F54-01A5-CF66-CEB599EAFD3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914400" y="2066840"/>
            <a:ext cx="4992688" cy="3657770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6C2D9B-B014-5544-F4AE-25D7E2A4D54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Hecla Mining as a company commanding a significant valuation premium compared to its direct competitors, though this premium is not extreme across all metrics when viewed against its own historical trading range.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044CEF-6B90-B42C-D0E8-CE101731FC72}"/>
              </a:ext>
            </a:extLst>
          </p:cNvPr>
          <p:cNvSpPr txBox="1"/>
          <p:nvPr/>
        </p:nvSpPr>
        <p:spPr>
          <a:xfrm>
            <a:off x="1668544" y="5724610"/>
            <a:ext cx="72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EQRV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/>
          <a:lstStyle/>
          <a:p>
            <a:r>
              <a:rPr lang="en-US" dirty="0"/>
              <a:t>Investment 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4992709" cy="3747180"/>
          </a:xfrm>
        </p:spPr>
        <p:txBody>
          <a:bodyPr/>
          <a:lstStyle/>
          <a:p>
            <a:r>
              <a:rPr lang="en-US" noProof="1"/>
              <a:t>The current valuation says that the stock is overvalued. </a:t>
            </a:r>
          </a:p>
          <a:p>
            <a:r>
              <a:rPr lang="en-US" noProof="1"/>
              <a:t>The stock can normalize with new contracts from government on mining.</a:t>
            </a:r>
          </a:p>
          <a:p>
            <a:r>
              <a:rPr lang="en-US" noProof="1"/>
              <a:t>Genesis Mission can help here.</a:t>
            </a:r>
          </a:p>
          <a:p>
            <a:r>
              <a:rPr lang="en-US" noProof="1"/>
              <a:t>With these they can accelerate mining permits.</a:t>
            </a:r>
          </a:p>
          <a:p>
            <a:r>
              <a:rPr lang="en-US" noProof="1"/>
              <a:t>Hecla has a major share in Mining ETF and Silver ETF.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3648172"/>
            <a:ext cx="4992709" cy="2121257"/>
          </a:xfrm>
        </p:spPr>
        <p:txBody>
          <a:bodyPr/>
          <a:lstStyle/>
          <a:p>
            <a:r>
              <a:rPr lang="en-US" noProof="1"/>
              <a:t>Increase in the AI infrastructure demand can lead to increase in demand on silver.</a:t>
            </a:r>
          </a:p>
          <a:p>
            <a:r>
              <a:rPr lang="en-US" noProof="1"/>
              <a:t>With current policies and talks on shifting of the manufacturing of the AI chipset within the USA, Hecla seems to be in a great position.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08F9D0-ABE4-14E8-16CB-40EF74905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891" y="1003802"/>
            <a:ext cx="5617494" cy="23008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A99F80-1E61-BB28-C87F-A69A6672F385}"/>
              </a:ext>
            </a:extLst>
          </p:cNvPr>
          <p:cNvSpPr txBox="1"/>
          <p:nvPr/>
        </p:nvSpPr>
        <p:spPr>
          <a:xfrm>
            <a:off x="11516767" y="3243756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MA</a:t>
            </a:r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Etf’S HELD BY Hecla Mining 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SIL (Global X Silver Miners): 8.2% weight, 12.4M shares</a:t>
            </a:r>
          </a:p>
          <a:p>
            <a:r>
              <a:rPr lang="en-US" dirty="0"/>
              <a:t>SLV (iShares Silver Trust): Indirect, physical backing</a:t>
            </a:r>
          </a:p>
          <a:p>
            <a:r>
              <a:rPr lang="en-US" dirty="0"/>
              <a:t>GDX (VanEck Gold Miners): 2.1% weight, 3.2M shares</a:t>
            </a:r>
          </a:p>
          <a:p>
            <a:r>
              <a:rPr lang="en-US" dirty="0"/>
              <a:t>SILJ (Junior Silver Miners): 4.8% weight, 7.3M shares</a:t>
            </a:r>
          </a:p>
          <a:p>
            <a:endParaRPr lang="en-US" dirty="0"/>
          </a:p>
          <a:p>
            <a:r>
              <a:rPr lang="en-US" dirty="0"/>
              <a:t>TOTAL ETF OWNERSHIP: ~24% of float</a:t>
            </a:r>
          </a:p>
          <a:p>
            <a:r>
              <a:rPr lang="en-US" dirty="0"/>
              <a:t>FORCED BUYING: Every $100M into SIL = 450,000 HL shares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3FA180-F896-B668-8BA1-591474B4023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MONTHLY ETF FLOWS (Bloomberg FITR):</a:t>
            </a:r>
          </a:p>
          <a:p>
            <a:r>
              <a:rPr lang="en-IN" dirty="0"/>
              <a:t>• SIL: +$287M (Nov 2024)</a:t>
            </a:r>
          </a:p>
          <a:p>
            <a:r>
              <a:rPr lang="en-IN" dirty="0"/>
              <a:t>• SLV: +$845M (Oct-Nov 2024)</a:t>
            </a:r>
          </a:p>
          <a:p>
            <a:r>
              <a:rPr lang="en-IN" dirty="0"/>
              <a:t>• GDX: +$1.2B (Q4 2024)</a:t>
            </a:r>
          </a:p>
          <a:p>
            <a:endParaRPr lang="en-IN" dirty="0"/>
          </a:p>
          <a:p>
            <a:r>
              <a:rPr lang="en-IN" dirty="0"/>
              <a:t>INSTITUTIONAL ACTIVITY:</a:t>
            </a:r>
          </a:p>
          <a:p>
            <a:r>
              <a:rPr lang="en-IN" dirty="0"/>
              <a:t>• Vanguard: +2.1M shares (Q3)</a:t>
            </a:r>
          </a:p>
          <a:p>
            <a:r>
              <a:rPr lang="en-IN" dirty="0"/>
              <a:t>• BlackRock: +1.8M shares (Q3)</a:t>
            </a:r>
          </a:p>
          <a:p>
            <a:r>
              <a:rPr lang="en-IN" dirty="0"/>
              <a:t>• State Street: +1.2M shares (Q3)</a:t>
            </a:r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/>
          <a:lstStyle/>
          <a:p>
            <a:r>
              <a:rPr lang="en-US" dirty="0"/>
              <a:t>Scenario and Sensitivity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C67C-D286-74AE-086C-3E45FF9D95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5037222" cy="3747180"/>
          </a:xfrm>
        </p:spPr>
        <p:txBody>
          <a:bodyPr/>
          <a:lstStyle/>
          <a:p>
            <a:r>
              <a:rPr lang="en-US" dirty="0"/>
              <a:t>Base case(Current Conditions)</a:t>
            </a:r>
          </a:p>
          <a:p>
            <a:r>
              <a:rPr lang="en-US" b="0" dirty="0"/>
              <a:t>Value/Share: $1.12-$ 4.11</a:t>
            </a:r>
          </a:p>
          <a:p>
            <a:r>
              <a:rPr lang="en-US" b="0" dirty="0"/>
              <a:t>Silver price remains unchanged</a:t>
            </a:r>
          </a:p>
          <a:p>
            <a:r>
              <a:rPr lang="en-US" b="0" dirty="0"/>
              <a:t>Still Overvalued </a:t>
            </a:r>
          </a:p>
          <a:p>
            <a:endParaRPr lang="en-US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97053" y="2018120"/>
            <a:ext cx="4856746" cy="3747180"/>
          </a:xfrm>
        </p:spPr>
        <p:txBody>
          <a:bodyPr/>
          <a:lstStyle/>
          <a:p>
            <a:r>
              <a:rPr lang="en-US" b="1" dirty="0"/>
              <a:t>Bull Case( Catalyst Enhanced Scenario)</a:t>
            </a:r>
          </a:p>
          <a:p>
            <a:r>
              <a:rPr lang="en-US" dirty="0"/>
              <a:t>Silver prices are on the rise</a:t>
            </a:r>
          </a:p>
          <a:p>
            <a:r>
              <a:rPr lang="en-US" dirty="0"/>
              <a:t>Influx of money in the ETF markets i.e. both Normal and forced Buys</a:t>
            </a:r>
          </a:p>
          <a:p>
            <a:r>
              <a:rPr lang="en-US" dirty="0"/>
              <a:t>Increase in revenue by 38%</a:t>
            </a:r>
          </a:p>
          <a:p>
            <a:r>
              <a:rPr lang="en-US" dirty="0"/>
              <a:t>Due to high operation leverage and high silver prices the EBITDA margin is also on the rise</a:t>
            </a:r>
          </a:p>
          <a:p>
            <a:r>
              <a:rPr lang="en-US" dirty="0"/>
              <a:t>Potential Value: $15-18/share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023845-BDB4-F3BE-DE05-FEF486DCD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42" y="3709534"/>
            <a:ext cx="5907855" cy="241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FBAB-CD4E-8DC9-4C48-7C4248D66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32F6-B9B4-CBF8-FB1C-EB483373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1DAEB6-E939-E822-9FD9-D3823806EE3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914400" y="2149065"/>
            <a:ext cx="4992688" cy="349331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F1A14-8280-8207-FE67-48FE3FA8B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7BFDD-E764-9867-781E-96E17B47F23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Strong governance &amp; social scores, but significant environmental risks.</a:t>
            </a:r>
          </a:p>
          <a:p>
            <a:r>
              <a:rPr lang="en-US" dirty="0"/>
              <a:t>Overall ESG score is considered "Leading" among its competitor group.</a:t>
            </a:r>
          </a:p>
          <a:p>
            <a:r>
              <a:rPr lang="en-US" dirty="0"/>
              <a:t>Critical Gaps in climate strategy</a:t>
            </a:r>
            <a:r>
              <a:rPr lang="en-IN" dirty="0"/>
              <a:t>: No Net Zero target and No Science based targets has been set.</a:t>
            </a:r>
          </a:p>
          <a:p>
            <a:r>
              <a:rPr lang="en-US" dirty="0"/>
              <a:t>Hecla is a well-run company from a governance perspective but lacks a forward-looking, strategic plan to manage its material environmental and climate-related risks, which exposes it to future regulatory and physical threats.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6F813-2D83-597F-06B9-94877A9DF643}"/>
              </a:ext>
            </a:extLst>
          </p:cNvPr>
          <p:cNvSpPr txBox="1"/>
          <p:nvPr/>
        </p:nvSpPr>
        <p:spPr>
          <a:xfrm>
            <a:off x="914399" y="177973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ESG</a:t>
            </a:r>
          </a:p>
        </p:txBody>
      </p:sp>
    </p:spTree>
    <p:extLst>
      <p:ext uri="{BB962C8B-B14F-4D97-AF65-F5344CB8AC3E}">
        <p14:creationId xmlns:p14="http://schemas.microsoft.com/office/powerpoint/2010/main" val="3370746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/>
          <a:lstStyle/>
          <a:p>
            <a:r>
              <a:rPr lang="en-US" dirty="0"/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6257366" cy="391491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5AC68-D86C-E73B-5402-F22C9F54DC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1990" y="2018119"/>
            <a:ext cx="9524999" cy="3931919"/>
          </a:xfrm>
        </p:spPr>
        <p:txBody>
          <a:bodyPr/>
          <a:lstStyle/>
          <a:p>
            <a:r>
              <a:rPr lang="en-US" dirty="0"/>
              <a:t>Policy Implementations delays</a:t>
            </a:r>
          </a:p>
          <a:p>
            <a:r>
              <a:rPr lang="en-US" dirty="0"/>
              <a:t>Ai demand Materizes slower than expected</a:t>
            </a:r>
          </a:p>
          <a:p>
            <a:r>
              <a:rPr lang="en-US" dirty="0"/>
              <a:t>Competing Technologies</a:t>
            </a:r>
          </a:p>
          <a:p>
            <a:r>
              <a:rPr lang="en-US" dirty="0"/>
              <a:t>ETF flows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224</TotalTime>
  <Words>610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Custom</vt:lpstr>
      <vt:lpstr>Hecla Mining Company NYSE: HL  Target Price: $ 20 Recommendation: BUY/ hold </vt:lpstr>
      <vt:lpstr>Company Overview</vt:lpstr>
      <vt:lpstr>The Aha Moment </vt:lpstr>
      <vt:lpstr>Financials</vt:lpstr>
      <vt:lpstr>Peer comparison</vt:lpstr>
      <vt:lpstr>Investment Thesis</vt:lpstr>
      <vt:lpstr>Etf’S HELD BY Hecla Mining Co</vt:lpstr>
      <vt:lpstr>Scenario and Sensitivity analysis </vt:lpstr>
      <vt:lpstr>ESG</vt:lpstr>
      <vt:lpstr>Risks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Siddhant Zade</dc:creator>
  <cp:lastModifiedBy>Siddhant Zade</cp:lastModifiedBy>
  <cp:revision>1</cp:revision>
  <dcterms:created xsi:type="dcterms:W3CDTF">2025-12-07T06:17:20Z</dcterms:created>
  <dcterms:modified xsi:type="dcterms:W3CDTF">2025-12-08T00:44:59Z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